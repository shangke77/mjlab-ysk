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单击以移动幻灯片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51806C4-DCDA-4A49-B4FD-8E79FBE059F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680400"/>
            <a:ext cx="10972080" cy="3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3348720"/>
            <a:ext cx="1097208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680400"/>
            <a:ext cx="10972080" cy="3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3297960"/>
            <a:ext cx="10972080" cy="59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Wingdings"/>
              <a:buChar char="l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Wingdings"/>
              <a:buChar char="l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file:///home/yangshangke/&#35270;&#39057;/&#24405;&#23631;/&#24405;&#23631; 2026-07-09 22-37-47-train&#32456;&#29256;.webm" TargetMode="External"/><Relationship Id="rId2" Type="http://schemas.microsoft.com/office/2007/relationships/media" Target="file:///home/yangshangke/&#35270;&#39057;/&#24405;&#23631;/&#24405;&#23631; 2026-07-09 22-37-47-train&#32456;&#29256;.webm" TargetMode="External"/><Relationship Id="rId3" Type="http://schemas.openxmlformats.org/officeDocument/2006/relationships/image" Target="../media/image2.png"/><Relationship Id="rId4" Type="http://schemas.openxmlformats.org/officeDocument/2006/relationships/video" Target="file:///home/yangshangke/&#35270;&#39057;/&#24405;&#23631;/sim2sim-Failed.webm" TargetMode="External"/><Relationship Id="rId5" Type="http://schemas.microsoft.com/office/2007/relationships/media" Target="file:///home/yangshangke/&#35270;&#39057;/&#24405;&#23631;/sim2sim-Failed.webm" TargetMode="External"/><Relationship Id="rId6" Type="http://schemas.openxmlformats.org/officeDocument/2006/relationships/image" Target="../media/image3.png"/><Relationship Id="rId7" Type="http://schemas.openxmlformats.org/officeDocument/2006/relationships/video" Target="file:///home/yangshangke/Failed.webm" TargetMode="External"/><Relationship Id="rId8" Type="http://schemas.microsoft.com/office/2007/relationships/media" Target="file:///home/yangshangke/Failed.webm" TargetMode="External"/><Relationship Id="rId9" Type="http://schemas.openxmlformats.org/officeDocument/2006/relationships/image" Target="../media/image4.png"/><Relationship Id="rId10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video" Target="file:///home/yangshangke/&#35270;&#39057;/&#24405;&#23631;/sim2sim-Succeed.webm" TargetMode="External"/><Relationship Id="rId2" Type="http://schemas.microsoft.com/office/2007/relationships/media" Target="file:///home/yangshangke/&#35270;&#39057;/&#24405;&#23631;/sim2sim-Succeed.webm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video" Target="file:///home/yangshangke/&#35270;&#39057;/&#24405;&#23631;/Success.webm" TargetMode="External"/><Relationship Id="rId2" Type="http://schemas.microsoft.com/office/2007/relationships/media" Target="file:///home/yangshangke/&#35270;&#39057;/&#24405;&#23631;/Success.webm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399960" y="723960"/>
            <a:ext cx="6952680" cy="16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基于 </a:t>
            </a:r>
            <a:r>
              <a:rPr lang="en-US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 </a:t>
            </a:r>
            <a:r>
              <a:rPr lang="zh-CN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的云深处 </a:t>
            </a:r>
            <a:r>
              <a:rPr lang="en-US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速度追踪</a:t>
            </a:r>
            <a:r>
              <a:rPr lang="zh-CN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训练与部</a:t>
            </a:r>
            <a:r>
              <a:rPr lang="zh-CN" sz="37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署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19040" y="2685960"/>
            <a:ext cx="61905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2026/7/25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19040" y="3276720"/>
            <a:ext cx="4952160" cy="3744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"/>
          <p:cNvSpPr/>
          <p:nvPr/>
        </p:nvSpPr>
        <p:spPr>
          <a:xfrm>
            <a:off x="419040" y="3562200"/>
            <a:ext cx="64764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"/>
          <p:cNvSpPr/>
          <p:nvPr/>
        </p:nvSpPr>
        <p:spPr>
          <a:xfrm>
            <a:off x="7524720" y="419040"/>
            <a:ext cx="4266360" cy="58287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7753680" y="1421640"/>
            <a:ext cx="3809160" cy="36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6839640" y="1135440"/>
            <a:ext cx="413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840000" y="2045160"/>
            <a:ext cx="4771440" cy="20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054800" y="1260000"/>
            <a:ext cx="3985200" cy="9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项目步骤</a:t>
            </a:r>
            <a:endParaRPr lang="en-US" sz="28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20000" y="2093760"/>
            <a:ext cx="5852160" cy="240624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MJLab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中接入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Lite3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模型文件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学习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Go1 RL Code,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修改为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Lite3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训练代码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训练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Lite3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平地速度追踪策略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从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checkpoint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中择优导出，进行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sim2sim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部署到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原始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MuJoCo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克隆官方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Lite2_rl_deploy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库，进行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sim2real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真机部署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Lite3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真机实现速度追踪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/>
          <p:cNvPicPr/>
          <p:nvPr/>
        </p:nvPicPr>
        <p:blipFill>
          <a:blip r:embed="rId1"/>
          <a:stretch/>
        </p:blipFill>
        <p:spPr>
          <a:xfrm>
            <a:off x="7622280" y="1213920"/>
            <a:ext cx="3809160" cy="36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失败原因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1.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把策略输入扩展为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47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00280" y="1981080"/>
            <a:ext cx="17139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47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00280" y="247644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Actor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观测维度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257640" y="1981080"/>
            <a:ext cx="27615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3257640" y="2476440"/>
            <a:ext cx="27615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额外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sin / cos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相位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762600" y="247644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594720" y="288000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基础 </a:t>
            </a: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</a:t>
            </a: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90720" y="4267080"/>
            <a:ext cx="399996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980000" y="288000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额外 </a:t>
            </a:r>
            <a:r>
              <a:rPr lang="en-US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2 </a:t>
            </a: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95440" y="3240000"/>
            <a:ext cx="390456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gait_phase_sin_cos </a:t>
            </a:r>
            <a:r>
              <a:rPr lang="zh-CN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把策略绑到训练时钟。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固定相位把仿真节拍带到真实接触中。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940000" y="1006920"/>
            <a:ext cx="5311080" cy="61308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2.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同时叠加了多套步态塑形目标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120000" y="1980000"/>
            <a:ext cx="5094360" cy="37249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·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周期步态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trot_phase_gait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用固定周期和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duty factor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指定落脚时序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·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对角触地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diagonal_gait_contact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再约束两组对角腿相位关系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·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动作塑性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action_magnitude_target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forward/swing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奖励继续推大步幅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·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额外惩罚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overspeed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lateral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yaw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termination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等权重同时参与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问题不是某个奖励写错，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而是多个目标共同把自然反馈控制变成了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时钟驱动的动作模板。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21560" y="4084920"/>
            <a:ext cx="4614480" cy="111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3.</a:t>
            </a: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pose scale or Kd</a:t>
            </a:r>
            <a:r>
              <a:rPr lang="zh-CN" sz="2800" b="1" u="none" strike="noStrike">
                <a:solidFill>
                  <a:srgbClr val="000000"/>
                </a:solidFill>
                <a:effectLst/>
                <a:uFillTx/>
                <a:latin typeface="Noto Sans CJK SC"/>
                <a:ea typeface="Noto Sans CJK SC"/>
              </a:rPr>
              <a:t>不一致放大抖动</a:t>
            </a:r>
            <a:endParaRPr lang="en-US" sz="2800" b="1" u="none" strike="noStrike">
              <a:solidFill>
                <a:srgbClr val="000000"/>
              </a:solidFill>
              <a:effectLst/>
              <a:uFillTx/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6880" y="199080"/>
            <a:ext cx="10972080" cy="3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r>
              <a:rPr lang="zh-C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失败版本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</a:t>
            </a:r>
            <a:r>
              <a:rPr lang="zh-C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视频，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sim2sim</a:t>
            </a:r>
            <a:r>
              <a:rPr lang="zh-C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视频，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sim2real</a:t>
            </a:r>
            <a:r>
              <a:rPr lang="zh-C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视频</a:t>
            </a:r>
            <a:endParaRPr lang="en-US" sz="18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9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75000" y="530280"/>
            <a:ext cx="4449600" cy="2856240"/>
          </a:xfrm>
          <a:prstGeom prst="rect">
            <a:avLst/>
          </a:prstGeom>
          <a:ln w="0">
            <a:noFill/>
          </a:ln>
        </p:spPr>
      </p:pic>
      <p:pic>
        <p:nvPicPr>
          <p:cNvPr id="50" name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548360" y="3426480"/>
            <a:ext cx="4449600" cy="2985840"/>
          </a:xfrm>
          <a:prstGeom prst="rect">
            <a:avLst/>
          </a:prstGeom>
          <a:ln w="0">
            <a:noFill/>
          </a:ln>
        </p:spPr>
      </p:pic>
      <p:pic>
        <p:nvPicPr>
          <p:cNvPr id="51" name="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r:link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527160" y="563400"/>
            <a:ext cx="3195360" cy="5680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399960" y="685800"/>
            <a:ext cx="1108548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成功路线的原则是让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成为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的普通机器人配置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08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85800" y="1790640"/>
            <a:ext cx="437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1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314360" y="17524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公</a:t>
            </a: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共 </a:t>
            </a: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</a:t>
            </a: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D</a:t>
            </a: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P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14360" y="2152800"/>
            <a:ext cx="40950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继续复用原始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velocity_env_cfg.py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的观测、命令、奖励和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PPO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流程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286680" y="1790640"/>
            <a:ext cx="437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2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915240" y="17524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机器人资产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915240" y="2152800"/>
            <a:ext cx="40950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只新增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 MJCF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、执行器、碰撞和默认姿态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85800" y="3009960"/>
            <a:ext cx="437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3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314360" y="297180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任务配置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314360" y="3371760"/>
            <a:ext cx="40950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只覆盖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 body/site/geom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名称及动作缩放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286680" y="3009960"/>
            <a:ext cx="437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4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915240" y="297180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Actor </a:t>
            </a: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接口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915240" y="3371760"/>
            <a:ext cx="40950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删除真机难以直接获得的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base_lin_vel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，得到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85800" y="4229280"/>
            <a:ext cx="437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5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314360" y="419112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部署约束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314360" y="4591080"/>
            <a:ext cx="40950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训练与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runner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共用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joint order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default pose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scale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286680" y="4229280"/>
            <a:ext cx="4374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5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6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915240" y="419112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差异可审计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915240" y="4591080"/>
            <a:ext cx="409500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git diff origin/main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显示共享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MDP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基本保持上游结构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第一步：把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作为独立资产接入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09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3960" y="1857960"/>
            <a:ext cx="3714120" cy="357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5143680" y="1809720"/>
            <a:ext cx="5904720" cy="30855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官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方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模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型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来</a:t>
            </a: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oti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b/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ep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_r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ob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oti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cs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_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od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467320" y="2629080"/>
            <a:ext cx="5142960" cy="16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MJCF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：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asset_zoo/robots/deep_lite3/xmls/Lite3.xml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机身：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TORSO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；关节：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HipX / HipY / Knee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；四腿顺序 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FL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FR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HL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HR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初始状态：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base 0.35 m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，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HipY -0.75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，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Knee 1.30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足端使用 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6D contact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；大腿、小腿和躯干建立非法接触监测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get_lite3_robot_cfg() 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每次返回 </a:t>
            </a:r>
            <a:r>
              <a:rPr lang="en-US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fresh EntityCfg</a:t>
            </a:r>
            <a:r>
              <a:rPr lang="zh-CN" sz="135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，避免共享配置污染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第二步：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Actor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固定为官方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runner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可复现的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3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09480" y="1809720"/>
            <a:ext cx="209484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"/>
          <p:cNvSpPr/>
          <p:nvPr/>
        </p:nvSpPr>
        <p:spPr>
          <a:xfrm>
            <a:off x="800280" y="1981080"/>
            <a:ext cx="17139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45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00280" y="247644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Actor observation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067200" y="1809720"/>
            <a:ext cx="314244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9" name=""/>
          <p:cNvSpPr/>
          <p:nvPr/>
        </p:nvSpPr>
        <p:spPr>
          <a:xfrm>
            <a:off x="3257640" y="1981080"/>
            <a:ext cx="27615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12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257640" y="2476440"/>
            <a:ext cx="27615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Action dimension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572160" y="1809720"/>
            <a:ext cx="209484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"/>
          <p:cNvSpPr/>
          <p:nvPr/>
        </p:nvSpPr>
        <p:spPr>
          <a:xfrm>
            <a:off x="6762600" y="1981080"/>
            <a:ext cx="17139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20 ms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762600" y="247644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0.005 s × decimation 4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9029880" y="1809720"/>
            <a:ext cx="238068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"/>
          <p:cNvSpPr/>
          <p:nvPr/>
        </p:nvSpPr>
        <p:spPr>
          <a:xfrm>
            <a:off x="9220320" y="1981080"/>
            <a:ext cx="19994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4</a:t>
            </a:r>
            <a:r>
              <a:rPr lang="en-US" sz="2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5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220320" y="2476440"/>
            <a:ext cx="19994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Lite3_rl_deploy input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3562200"/>
            <a:ext cx="4761720" cy="15231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8" name=""/>
          <p:cNvSpPr/>
          <p:nvPr/>
        </p:nvSpPr>
        <p:spPr>
          <a:xfrm>
            <a:off x="990720" y="382896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观测顺序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90720" y="4267080"/>
            <a:ext cx="399996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3 base_ang_vel + 3 gravity + 12 joint_pos + 12 joint_vel + 12 last_action + 3 command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191280" y="3562200"/>
            <a:ext cx="4761720" cy="15231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1" name=""/>
          <p:cNvSpPr/>
          <p:nvPr/>
        </p:nvSpPr>
        <p:spPr>
          <a:xfrm>
            <a:off x="6496200" y="382896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关键删除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496200" y="4267080"/>
            <a:ext cx="390456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不使用 </a:t>
            </a:r>
            <a:r>
              <a:rPr lang="en-US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base_lin_vel</a:t>
            </a:r>
            <a:r>
              <a:rPr lang="zh-CN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，不再添加 </a:t>
            </a:r>
            <a:r>
              <a:rPr lang="en-US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gait_phase</a:t>
            </a:r>
            <a:r>
              <a:rPr lang="zh-CN" sz="143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；策略不依赖外部相位时钟。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第三步：训练和部署必须共享同一动作语义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5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ab / 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Dee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p 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Rob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otic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s 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Lite</a:t>
            </a: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38080" y="1752480"/>
            <a:ext cx="10514880" cy="29520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8" name=""/>
          <p:cNvSpPr/>
          <p:nvPr/>
        </p:nvSpPr>
        <p:spPr>
          <a:xfrm>
            <a:off x="1162080" y="201924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HipX / HipY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809880" y="2019240"/>
            <a:ext cx="199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stiffness 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019920" y="2019240"/>
            <a:ext cx="2475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damping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667720" y="201924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effort 24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143000" y="2457360"/>
            <a:ext cx="981000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"/>
          <p:cNvSpPr/>
          <p:nvPr/>
        </p:nvSpPr>
        <p:spPr>
          <a:xfrm>
            <a:off x="1162080" y="262908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Knee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809880" y="2629080"/>
            <a:ext cx="199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stiffness 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019920" y="2629080"/>
            <a:ext cx="2475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damping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8667720" y="26290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effort 36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143000" y="3067200"/>
            <a:ext cx="981000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8" name=""/>
          <p:cNvSpPr/>
          <p:nvPr/>
        </p:nvSpPr>
        <p:spPr>
          <a:xfrm>
            <a:off x="1162080" y="323856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Action scale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809880" y="3238560"/>
            <a:ext cx="199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Hi</a:t>
            </a: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pX </a:t>
            </a: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0.2</a:t>
            </a: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019920" y="3238560"/>
            <a:ext cx="2475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Hi</a:t>
            </a: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pY </a:t>
            </a: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0.2</a:t>
            </a: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667720" y="323856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Knee 0.30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143000" y="3676680"/>
            <a:ext cx="981000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"/>
          <p:cNvSpPr/>
          <p:nvPr/>
        </p:nvSpPr>
        <p:spPr>
          <a:xfrm>
            <a:off x="1162080" y="384804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Default pose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809880" y="3848040"/>
            <a:ext cx="199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base 0.35 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019920" y="3848040"/>
            <a:ext cx="2475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HipY -0.75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667720" y="384804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Knee 1.30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52560" y="5124600"/>
            <a:ext cx="10286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q* = q_default + action × scale</a:t>
            </a: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；官方 </a:t>
            </a: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C++ runner </a:t>
            </a: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必须使用同一公式与关节顺序。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第四步：奖励回到速度任务本身，不再规定固定相位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0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5800" y="1866960"/>
            <a:ext cx="4761720" cy="1218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"/>
          <p:cNvSpPr/>
          <p:nvPr/>
        </p:nvSpPr>
        <p:spPr>
          <a:xfrm>
            <a:off x="952560" y="2095560"/>
            <a:ext cx="22852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7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速度跟踪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52560" y="2514600"/>
            <a:ext cx="4095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track_linear_velocity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track_angular_velocity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直接回答“是否跟上命令”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343560" y="1866960"/>
            <a:ext cx="4761720" cy="1218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" name=""/>
          <p:cNvSpPr/>
          <p:nvPr/>
        </p:nvSpPr>
        <p:spPr>
          <a:xfrm>
            <a:off x="6610320" y="2095560"/>
            <a:ext cx="22852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7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身体稳定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610320" y="2514600"/>
            <a:ext cx="4095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upright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pose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与必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要的角速度约束保持躯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干可控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685800" y="3676680"/>
            <a:ext cx="4761720" cy="1218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9" name=""/>
          <p:cNvSpPr/>
          <p:nvPr/>
        </p:nvSpPr>
        <p:spPr>
          <a:xfrm>
            <a:off x="952560" y="3905280"/>
            <a:ext cx="22852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7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足端质量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952560" y="4324320"/>
            <a:ext cx="4095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cle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ara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nc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e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0.0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8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m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sw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ing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hei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gh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sli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sof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 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lan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din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343560" y="3676680"/>
            <a:ext cx="4761720" cy="12186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"/>
          <p:cNvSpPr/>
          <p:nvPr/>
        </p:nvSpPr>
        <p:spPr>
          <a:xfrm>
            <a:off x="6610320" y="3905280"/>
            <a:ext cx="228528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7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接触安全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610320" y="4324320"/>
            <a:ext cx="40950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thigh illegal contact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shank/torso collision cost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33480" y="5334120"/>
            <a:ext cx="100004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2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步态由速度、姿态、足端和接触反馈共同涌现，不再由 </a:t>
            </a:r>
            <a:r>
              <a:rPr lang="en-US" sz="202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0.48 s </a:t>
            </a:r>
            <a:r>
              <a:rPr lang="zh-CN" sz="202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时钟硬编码。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第五步：命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令覆盖和随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机化来自公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共速度任务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7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838080" y="1847880"/>
            <a:ext cx="295200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0" name=""/>
          <p:cNvSpPr/>
          <p:nvPr/>
        </p:nvSpPr>
        <p:spPr>
          <a:xfrm>
            <a:off x="838080" y="1847880"/>
            <a:ext cx="75600" cy="106596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1" name=""/>
          <p:cNvSpPr/>
          <p:nvPr/>
        </p:nvSpPr>
        <p:spPr>
          <a:xfrm>
            <a:off x="1047600" y="2000160"/>
            <a:ext cx="2609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三轴命令训练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047600" y="2343240"/>
            <a:ext cx="2609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vx [-1,1]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vy [-1,1]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wz [-0.5,0.5]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4629240" y="1847880"/>
            <a:ext cx="295200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"/>
          <p:cNvSpPr/>
          <p:nvPr/>
        </p:nvSpPr>
        <p:spPr>
          <a:xfrm>
            <a:off x="4629240" y="1847880"/>
            <a:ext cx="75600" cy="10659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5" name=""/>
          <p:cNvSpPr/>
          <p:nvPr/>
        </p:nvSpPr>
        <p:spPr>
          <a:xfrm>
            <a:off x="4838760" y="2000160"/>
            <a:ext cx="2609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混合采样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4838760" y="2343240"/>
            <a:ext cx="2609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10% standing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30%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heading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20%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forward-only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8420040" y="1847880"/>
            <a:ext cx="295200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8" name=""/>
          <p:cNvSpPr/>
          <p:nvPr/>
        </p:nvSpPr>
        <p:spPr>
          <a:xfrm>
            <a:off x="8420040" y="1847880"/>
            <a:ext cx="75600" cy="1065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9" name=""/>
          <p:cNvSpPr/>
          <p:nvPr/>
        </p:nvSpPr>
        <p:spPr>
          <a:xfrm>
            <a:off x="8629560" y="2000160"/>
            <a:ext cx="2609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速度课程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8629560" y="2343240"/>
            <a:ext cx="2609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后期扩展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vx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与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wz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范围，保持任务由易到难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2743200" y="3772080"/>
            <a:ext cx="295200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2" name=""/>
          <p:cNvSpPr/>
          <p:nvPr/>
        </p:nvSpPr>
        <p:spPr>
          <a:xfrm>
            <a:off x="2743200" y="3772080"/>
            <a:ext cx="75600" cy="106596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3" name=""/>
          <p:cNvSpPr/>
          <p:nvPr/>
        </p:nvSpPr>
        <p:spPr>
          <a:xfrm>
            <a:off x="2952720" y="3924360"/>
            <a:ext cx="2609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摩擦随机化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2952720" y="4267080"/>
            <a:ext cx="2609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足端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slide / spin / roll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三个摩擦维度分别采样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534000" y="3772080"/>
            <a:ext cx="295200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6" name=""/>
          <p:cNvSpPr/>
          <p:nvPr/>
        </p:nvSpPr>
        <p:spPr>
          <a:xfrm>
            <a:off x="6534000" y="3772080"/>
            <a:ext cx="75600" cy="10659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7" name=""/>
          <p:cNvSpPr/>
          <p:nvPr/>
        </p:nvSpPr>
        <p:spPr>
          <a:xfrm>
            <a:off x="6743880" y="3924360"/>
            <a:ext cx="2609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平地部署版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743880" y="4267080"/>
            <a:ext cx="2609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移除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height scan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和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terrain curriculum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，保留真机可获得观测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第六步：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PPO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保持标准配置，用长训练验证简化后的任务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1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704880" y="1866960"/>
            <a:ext cx="295200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4" name=""/>
          <p:cNvSpPr/>
          <p:nvPr/>
        </p:nvSpPr>
        <p:spPr>
          <a:xfrm>
            <a:off x="895320" y="2038320"/>
            <a:ext cx="25711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4096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895320" y="2533680"/>
            <a:ext cx="257112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parallel environments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4038480" y="1866960"/>
            <a:ext cx="228528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7" name=""/>
          <p:cNvSpPr/>
          <p:nvPr/>
        </p:nvSpPr>
        <p:spPr>
          <a:xfrm>
            <a:off x="4229280" y="2038320"/>
            <a:ext cx="190440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10,000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229280" y="2533680"/>
            <a:ext cx="190440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max iterations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705720" y="1866960"/>
            <a:ext cx="209484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0" name=""/>
          <p:cNvSpPr/>
          <p:nvPr/>
        </p:nvSpPr>
        <p:spPr>
          <a:xfrm>
            <a:off x="6896160" y="2038320"/>
            <a:ext cx="17139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6B35"/>
                </a:solidFill>
                <a:effectLst/>
                <a:uFillTx/>
                <a:latin typeface="Noto Sans CJK SC"/>
                <a:ea typeface="Noto Sans CJK SC"/>
              </a:rPr>
              <a:t>24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896160" y="253368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steps per environment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9182160" y="1866960"/>
            <a:ext cx="2094840" cy="112320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3" name=""/>
          <p:cNvSpPr/>
          <p:nvPr/>
        </p:nvSpPr>
        <p:spPr>
          <a:xfrm>
            <a:off x="9372600" y="2038320"/>
            <a:ext cx="17139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2563EB"/>
                </a:solidFill>
                <a:effectLst/>
                <a:uFillTx/>
                <a:latin typeface="Noto Sans CJK SC"/>
                <a:ea typeface="Noto Sans CJK SC"/>
              </a:rPr>
              <a:t>200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9372600" y="2533680"/>
            <a:ext cx="171396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checkpoint interval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181160" y="3828960"/>
            <a:ext cx="9810000" cy="119952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6" name=""/>
          <p:cNvSpPr/>
          <p:nvPr/>
        </p:nvSpPr>
        <p:spPr>
          <a:xfrm>
            <a:off x="1467000" y="4057560"/>
            <a:ext cx="2475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网络结构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467000" y="4514760"/>
            <a:ext cx="90478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Actor / Critic </a:t>
            </a:r>
            <a:r>
              <a:rPr lang="zh-CN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均为 </a:t>
            </a:r>
            <a:r>
              <a:rPr lang="en-US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512-256-128 ELU</a:t>
            </a:r>
            <a:r>
              <a:rPr lang="zh-CN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；</a:t>
            </a:r>
            <a:r>
              <a:rPr lang="en-US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PPO lr 1e-3</a:t>
            </a:r>
            <a:r>
              <a:rPr lang="zh-CN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gamma 0.99</a:t>
            </a:r>
            <a:r>
              <a:rPr lang="zh-CN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lambda 0.95</a:t>
            </a:r>
            <a:r>
              <a:rPr lang="zh-CN" sz="15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成功版本只在原始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的边界层做改动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0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685800" y="1790640"/>
            <a:ext cx="10819800" cy="257112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3" name=""/>
          <p:cNvSpPr/>
          <p:nvPr/>
        </p:nvSpPr>
        <p:spPr>
          <a:xfrm>
            <a:off x="1047600" y="2057400"/>
            <a:ext cx="20948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层级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3714840" y="205740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原始 </a:t>
            </a:r>
            <a:r>
              <a:rPr lang="en-US" sz="143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191280" y="2057400"/>
            <a:ext cx="21898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mjlab-ysk </a:t>
            </a:r>
            <a:r>
              <a:rPr lang="zh-CN" sz="143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当前版本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8858160" y="2057400"/>
            <a:ext cx="20948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3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为什么需要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933480" y="2400480"/>
            <a:ext cx="1028628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8" name=""/>
          <p:cNvSpPr/>
          <p:nvPr/>
        </p:nvSpPr>
        <p:spPr>
          <a:xfrm>
            <a:off x="1047600" y="257184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机器人资产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714840" y="257184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Go1 / G1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等，无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191280" y="2571840"/>
            <a:ext cx="2332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新增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 asset / registry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8858160" y="257184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让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进入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asset zoo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933480" y="2952720"/>
            <a:ext cx="1028628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3" name=""/>
          <p:cNvSpPr/>
          <p:nvPr/>
        </p:nvSpPr>
        <p:spPr>
          <a:xfrm>
            <a:off x="1047600" y="312408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共享速度 </a:t>
            </a:r>
            <a:r>
              <a:rPr lang="en-US" sz="128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MDP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714840" y="31240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原生观测、奖励、命令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191280" y="3124080"/>
            <a:ext cx="2332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原生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MDP +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通用小修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8858160" y="31240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避免私有步态框架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933480" y="3505320"/>
            <a:ext cx="1028628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8" name=""/>
          <p:cNvSpPr/>
          <p:nvPr/>
        </p:nvSpPr>
        <p:spPr>
          <a:xfrm>
            <a:off x="1047600" y="3676680"/>
            <a:ext cx="2285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 </a:t>
            </a:r>
            <a:r>
              <a:rPr lang="zh-CN" sz="128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任务层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3714840" y="36766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不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存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在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6191280" y="3676680"/>
            <a:ext cx="2332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Lite3 env / rl / task configs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8858160" y="3676680"/>
            <a:ext cx="218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绑定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TORSO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foot geoms </a:t>
            </a:r>
            <a:r>
              <a:rPr lang="zh-CN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与 </a:t>
            </a:r>
            <a:r>
              <a:rPr lang="en-US" sz="128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scale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399960" y="685800"/>
            <a:ext cx="1026504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第七步：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Sim2Sim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：证明策略离开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仍能闭环工作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4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104840" y="2286000"/>
            <a:ext cx="2133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104840" y="2629080"/>
            <a:ext cx="21330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562200" y="2533680"/>
            <a:ext cx="3801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4305240" y="2286000"/>
            <a:ext cx="2513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305240" y="2629080"/>
            <a:ext cx="25138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143840" y="2533680"/>
            <a:ext cx="3801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7886880" y="2286000"/>
            <a:ext cx="2323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886880" y="2629080"/>
            <a:ext cx="23234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"/>
          <p:cNvPicPr/>
          <p:nvPr/>
        </p:nvPicPr>
        <p:blipFill>
          <a:blip r:embed="rId1"/>
          <a:stretch/>
        </p:blipFill>
        <p:spPr>
          <a:xfrm>
            <a:off x="506160" y="2629080"/>
            <a:ext cx="8063640" cy="358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"/>
          <p:cNvPicPr/>
          <p:nvPr/>
        </p:nvPicPr>
        <p:blipFill>
          <a:blip r:embed="rId2"/>
          <a:stretch/>
        </p:blipFill>
        <p:spPr>
          <a:xfrm>
            <a:off x="399960" y="1254960"/>
            <a:ext cx="9718560" cy="137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399960" y="685800"/>
            <a:ext cx="1087776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当前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model_9999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已通过原生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MuJoCo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前向速度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gate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8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17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499680" y="1238040"/>
            <a:ext cx="1809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核心脚本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70520" y="1610640"/>
            <a:ext cx="590472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deployment/lite3_flat_3800/mujoco_sim2real.py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819000" y="2838600"/>
            <a:ext cx="533340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764760" y="1943640"/>
            <a:ext cx="3618720" cy="314244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4" name=""/>
          <p:cNvSpPr/>
          <p:nvPr/>
        </p:nvSpPr>
        <p:spPr>
          <a:xfrm>
            <a:off x="7334280" y="2057400"/>
            <a:ext cx="28569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model_9999 gate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334280" y="2610000"/>
            <a:ext cx="28569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cmd vx 0.3 → mean 0.299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7334280" y="3048120"/>
            <a:ext cx="28569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cmd vx 0.4 → mean 0.400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7334280" y="3486240"/>
            <a:ext cx="28569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vx 0.3 </a:t>
            </a:r>
            <a:r>
              <a:rPr lang="zh-CN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时 </a:t>
            </a: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mean wz </a:t>
            </a: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-0.046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7334280" y="3924360"/>
            <a:ext cx="28569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vx 0.4 </a:t>
            </a:r>
            <a:r>
              <a:rPr lang="zh-CN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时 </a:t>
            </a: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mean wz -0.003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334280" y="4362480"/>
            <a:ext cx="2952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6A34A"/>
                </a:solidFill>
                <a:effectLst/>
                <a:uFillTx/>
                <a:latin typeface="Noto Sans CJK SC"/>
                <a:ea typeface="Noto Sans CJK SC"/>
              </a:rPr>
              <a:t>mean tilt 0.039 / 0.045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22360" y="1895760"/>
            <a:ext cx="5481720" cy="349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第八步：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Sim2Real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：由官方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Lite3_rl_deploy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完成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ONNX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导出把已验证的 </a:t>
            </a:r>
            <a:r>
              <a:rPr lang="en-US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checkpoint </a:t>
            </a:r>
            <a:r>
              <a:rPr lang="zh-CN" sz="28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固化成部署契约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3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19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970920" y="2133720"/>
            <a:ext cx="247572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"/>
          <p:cNvSpPr/>
          <p:nvPr/>
        </p:nvSpPr>
        <p:spPr>
          <a:xfrm>
            <a:off x="895320" y="2133720"/>
            <a:ext cx="75600" cy="106596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"/>
          <p:cNvSpPr/>
          <p:nvPr/>
        </p:nvSpPr>
        <p:spPr>
          <a:xfrm>
            <a:off x="1104840" y="2286000"/>
            <a:ext cx="2133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model_9999.pt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1104840" y="2629080"/>
            <a:ext cx="21330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只选择通过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native MuJoCo gate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的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checkpoint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562200" y="2533680"/>
            <a:ext cx="3801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116240" y="2118600"/>
            <a:ext cx="285696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"/>
          <p:cNvSpPr/>
          <p:nvPr/>
        </p:nvSpPr>
        <p:spPr>
          <a:xfrm>
            <a:off x="4095720" y="2133720"/>
            <a:ext cx="75600" cy="10659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2" name=""/>
          <p:cNvSpPr/>
          <p:nvPr/>
        </p:nvSpPr>
        <p:spPr>
          <a:xfrm>
            <a:off x="4116240" y="2221920"/>
            <a:ext cx="29296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export_sim2real_policy.py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4305240" y="2629080"/>
            <a:ext cx="25138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导出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policy.onnx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，并生成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manifest.json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143840" y="2533680"/>
            <a:ext cx="38016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→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677000" y="2133720"/>
            <a:ext cx="2666160" cy="106596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6" name=""/>
          <p:cNvSpPr/>
          <p:nvPr/>
        </p:nvSpPr>
        <p:spPr>
          <a:xfrm>
            <a:off x="7677000" y="2133720"/>
            <a:ext cx="75600" cy="106596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"/>
          <p:cNvSpPr/>
          <p:nvPr/>
        </p:nvSpPr>
        <p:spPr>
          <a:xfrm>
            <a:off x="7886880" y="2286000"/>
            <a:ext cx="2323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Lite3_rl_deploy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886880" y="2629080"/>
            <a:ext cx="232344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写入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policy/ppo/policy.onnx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，官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方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runner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读取 </a:t>
            </a: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1200" b="0" u="none" strike="noStrike">
                <a:solidFill>
                  <a:srgbClr val="555555"/>
                </a:solidFill>
                <a:effectLst/>
                <a:uFillTx/>
                <a:latin typeface="Noto Sans CJK SC"/>
                <a:ea typeface="Noto Sans CJK SC"/>
              </a:rPr>
              <a:t>维输入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777680" y="4849920"/>
            <a:ext cx="86670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755080" y="3162240"/>
            <a:ext cx="5554800" cy="312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399960" y="685800"/>
            <a:ext cx="9333720" cy="8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2" name=""/>
          <p:cNvSpPr/>
          <p:nvPr/>
        </p:nvSpPr>
        <p:spPr>
          <a:xfrm>
            <a:off x="399960" y="6286680"/>
            <a:ext cx="11391120" cy="864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"/>
          <p:cNvSpPr/>
          <p:nvPr/>
        </p:nvSpPr>
        <p:spPr>
          <a:xfrm>
            <a:off x="399960" y="6419880"/>
            <a:ext cx="7809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MJLab / Deep Robotics Lite3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11334600" y="641988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8A8F98"/>
                </a:solidFill>
                <a:effectLst/>
                <a:uFillTx/>
                <a:latin typeface="Noto Sans CJK SC"/>
                <a:ea typeface="Noto Sans CJK SC"/>
              </a:rPr>
              <a:t>22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876240" y="685800"/>
            <a:ext cx="209484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600" b="1" u="none" strike="noStrike">
                <a:solidFill>
                  <a:srgbClr val="16A34A"/>
                </a:solidFill>
                <a:effectLst/>
                <a:uFillTx/>
                <a:latin typeface="Noto Sans CJK SC"/>
                <a:ea typeface="Noto Sans CJK SC"/>
              </a:rPr>
              <a:t>核心结论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758880" y="1637640"/>
            <a:ext cx="11106000" cy="17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训练代码已从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47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维强周期路线回到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维公共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velocity MDP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两轮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deep_lite3_velocity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已训练到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model_9999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，原生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MuJoCo vx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gate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通过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ONNX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与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manifest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已进入官方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Lite3_rl_deploy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的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runner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真机下一步先对齐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vy/wz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命令缩放，再做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StandUp→RLControl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平滑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交接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按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vx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vy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、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wz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单轴低速阶跃逐项验收，确认后再组合命令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早期方案把“步态好看”写进观测和奖励，形成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47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维策略与强周期约束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仿真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gate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能通过，但真机出现颤抖、小碎步和连续冲击声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覆盖重来后，训练重新复用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mjlab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原生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velocity MDP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，只保留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必需差异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• Actor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回到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45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维，正好对齐官方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Lite3_rl_deploy </a:t>
            </a:r>
            <a:r>
              <a:rPr lang="zh-CN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的 </a:t>
            </a:r>
            <a:r>
              <a:rPr lang="en-US" sz="1800" b="0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ONNX runner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836280" y="4371840"/>
            <a:ext cx="1028628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950" b="1" u="none" strike="noStrike">
                <a:solidFill>
                  <a:srgbClr val="111111"/>
                </a:solidFill>
                <a:effectLst/>
                <a:uFillTx/>
                <a:latin typeface="Noto Sans CJK SC"/>
                <a:ea typeface="Noto Sans CJK SC"/>
              </a:rPr>
              <a:t>成功不是“仿真里能走”，而是同一份策略在每一层都保持同一组接口和物理语义。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LibreOffice/26.2.4.2$Linux_X86_64 LibreOffice_project/3346a99e6b841765b75a9b29714a5b95c6761ce3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2026-07-25T07:29:57Z</dcterms:created>
  <dc:creator>Walnut Exporter</dc:creator>
  <dc:description/>
  <dc:language>zh-CN</dc:language>
  <cp:lastModifiedBy/>
  <dcterms:modified xsi:type="dcterms:W3CDTF">2026-07-25T17:12:09Z</dcterms:modified>
  <cp:revision>4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